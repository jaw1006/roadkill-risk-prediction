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0" y="-914400"/>
            <a:ext cx="5486400" cy="4572000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● CAPSTONE PROJECT · 진행 상황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1A211B"/>
                </a:solidFill>
                <a:latin typeface="맑은 고딕"/>
              </a:rPr>
              <a:t>로드킬 위험구간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625A"/>
                </a:solidFill>
                <a:latin typeface="맑은 고딕"/>
              </a:rPr>
              <a:t>공공데이터 기반 위험도 예측 모델과 대화형 GIS 대시보드, LLM 정책 브리핑·RAG 챗봇을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5625A"/>
                </a:solidFill>
                <a:latin typeface="맑은 고딕"/>
              </a:rPr>
              <a:t>결합한 3개월 캡스톤 프로젝트 구현 현황.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20440"/>
            <a:ext cx="1572768" cy="274320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>
                <a:solidFill>
                  <a:srgbClr val="2E6B4E"/>
                </a:solidFill>
                <a:latin typeface="맑은 고딕"/>
              </a:rPr>
              <a:t>● 대시보드 목업 뼈대 완료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6351" y="35204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>
                <a:solidFill>
                  <a:srgbClr val="2E6B4E"/>
                </a:solidFill>
                <a:latin typeface="맑은 고딕"/>
              </a:rPr>
              <a:t>● 베이스라인 파이프라인 구현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9" y="3520440"/>
            <a:ext cx="1901952" cy="274320"/>
          </a:xfrm>
          <a:prstGeom prst="roundRect">
            <a:avLst>
              <a:gd name="adj" fmla="val 5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100" b="1">
                <a:solidFill>
                  <a:srgbClr val="B4711F"/>
                </a:solidFill>
                <a:latin typeface="맑은 고딕"/>
              </a:rPr>
              <a:t>● 공공데이터 수집 — 현재 블로커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5989320"/>
            <a:ext cx="10543032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61081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211B"/>
                </a:solidFill>
                <a:latin typeface="맑은 고딕"/>
              </a:rPr>
              <a:t>Repository  </a:t>
            </a:r>
            <a:r>
              <a:rPr sz="1050" b="0">
                <a:solidFill>
                  <a:srgbClr val="55625A"/>
                </a:solidFill>
                <a:latin typeface="맑은 고딕"/>
              </a:rPr>
              <a:t>roadkill-risk-prediction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61081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211B"/>
                </a:solidFill>
                <a:latin typeface="맑은 고딕"/>
              </a:rPr>
              <a:t>Stack  </a:t>
            </a:r>
            <a:r>
              <a:rPr sz="1050" b="0">
                <a:solidFill>
                  <a:srgbClr val="55625A"/>
                </a:solidFill>
                <a:latin typeface="맑은 고딕"/>
              </a:rPr>
              <a:t>scikit-learn · XGBoost · PyTorch Geometric · Claude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61081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A211B"/>
                </a:solidFill>
                <a:latin typeface="맑은 고딕"/>
              </a:rPr>
              <a:t>업데이트  </a:t>
            </a:r>
            <a:r>
              <a:rPr sz="1050" b="0">
                <a:solidFill>
                  <a:srgbClr val="55625A"/>
                </a:solidFill>
                <a:latin typeface="맑은 고딕"/>
              </a:rPr>
              <a:t>2026-09-10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프로젝트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도로를 잘라 위험도를 매기고, 담당자의 언어로 설명한다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도로망을 500m 구간으로 나눠 예측 단위를 만들고, 위험구간을 지도에서 탐색하며, 담당자가 구간을 고르면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자연어 브리핑과 챗봇 질의응답이 뒤따르는 흐름을 목표로 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95144"/>
            <a:ext cx="3191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A211B"/>
                </a:solidFill>
                <a:latin typeface="맑은 고딕"/>
              </a:rPr>
              <a:t>① 위험도 예측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60904"/>
            <a:ext cx="319125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도로 구간별 로드킬 위험도를 RandomForest → XGBoost → GNN 순으로 고도화하며 예측한다.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295144"/>
            <a:ext cx="3191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A211B"/>
                </a:solidFill>
                <a:latin typeface="맑은 고딕"/>
              </a:rPr>
              <a:t>② GIS 대시보드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660904"/>
            <a:ext cx="319125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Streamlit + pydeck으로 위험구간을 지도 위에서 필터링하고 탐색할 수 있게 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4884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2295144"/>
            <a:ext cx="31912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A211B"/>
                </a:solidFill>
                <a:latin typeface="맑은 고딕"/>
              </a:rPr>
              <a:t>③ LLM 브리핑·챗봇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660904"/>
            <a:ext cx="3191256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선택한 구간의 SHAP 근거를 Claude에 전달해 정책 브리핑을 생성하고, RAG로 질의응답한다.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4048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6B4E"/>
                </a:solidFill>
                <a:latin typeface="Consolas"/>
              </a:rPr>
              <a:t>SCOPE — 포함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4983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211B"/>
                </a:solidFill>
                <a:latin typeface="맑은 고딕"/>
              </a:rPr>
              <a:t>—  공공데이터 기반 위험도 예측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211B"/>
                </a:solidFill>
                <a:latin typeface="맑은 고딕"/>
              </a:rPr>
              <a:t>—  정적 위험지도 + 기상 조건별 위험도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211B"/>
                </a:solidFill>
                <a:latin typeface="맑은 고딕"/>
              </a:rPr>
              <a:t>—  정책 브리핑 + RAG 챗봇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440680" cy="2331720"/>
          </a:xfrm>
          <a:prstGeom prst="roundRect">
            <a:avLst>
              <a:gd name="adj" fmla="val 4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4048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55625A"/>
                </a:solidFill>
                <a:latin typeface="Consolas"/>
              </a:rPr>
              <a:t>SCOPE — 제외 (후속 확장)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51960"/>
            <a:ext cx="4983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211B"/>
                </a:solidFill>
                <a:latin typeface="맑은 고딕"/>
              </a:rPr>
              <a:t>—  CCTV 실시간 객체 탐지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211B"/>
                </a:solidFill>
                <a:latin typeface="맑은 고딕"/>
              </a:rPr>
              <a:t>—  실시간 알림 / 신호 연동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A211B"/>
                </a:solidFill>
                <a:latin typeface="맑은 고딕"/>
              </a:rPr>
              <a:t>—  현장 IoT 센서 연계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시스템 아키텍처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4단계 파이프라인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데이터 파이프라인 위에 베이스라인 모델을 올리고, GNN으로 공간적 자기상관을 반영한 뒤, SHAP 근거를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LLM 브리핑·RAG 챗봇이 재사용하는 구조.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F3E1C7"/>
          </a:solidFill>
          <a:ln w="15875">
            <a:solidFill>
              <a:srgbClr val="B471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95144"/>
            <a:ext cx="2185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B4711F"/>
                </a:solidFill>
                <a:latin typeface="Consolas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69464"/>
            <a:ext cx="2185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11B"/>
                </a:solidFill>
                <a:latin typeface="맑은 고딕"/>
              </a:rPr>
              <a:t>데이터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08960"/>
            <a:ext cx="21854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도로망 500m 분할 → 로드킬·서식지·기상·지형 공간 조인. 로더 5개 스켈레톤 작성, 실데이터 수집 대기 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453128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B4711F"/>
                </a:solidFill>
                <a:latin typeface="맑은 고딕"/>
              </a:rPr>
              <a:t>● 설계만 완료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3375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8B968A"/>
                </a:solidFill>
                <a:latin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8728" y="214884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DCEADD"/>
          </a:solidFill>
          <a:ln w="15875">
            <a:solidFill>
              <a:srgbClr val="2E6B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295144"/>
            <a:ext cx="2185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6B4E"/>
                </a:solidFill>
                <a:latin typeface="Consolas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569464"/>
            <a:ext cx="2185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11B"/>
                </a:solidFill>
                <a:latin typeface="맑은 고딕"/>
              </a:rPr>
              <a:t>베이스라인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08960"/>
            <a:ext cx="21854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RandomForest → XGBoost. 클래스 가중치, PR-AUC 평가, spatial/temporal split, SHAP 해석까지 코드 완료.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445312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2E6B4E"/>
                </a:solidFill>
                <a:latin typeface="맑은 고딕"/>
              </a:rPr>
              <a:t>● 코드 완료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33375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8B968A"/>
                </a:solidFill>
                <a:latin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37376" y="214884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EAEEE3"/>
          </a:solidFill>
          <a:ln w="1587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295144"/>
            <a:ext cx="2185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968A"/>
                </a:solidFill>
                <a:latin typeface="Consolas"/>
              </a:rP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2569464"/>
            <a:ext cx="2185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11B"/>
                </a:solidFill>
                <a:latin typeface="맑은 고딕"/>
              </a:rPr>
              <a:t>GNN 고도화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108960"/>
            <a:ext cx="21854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구간 인접 그래프 위에서 GCN·GraphSAGE로 이웃 정보를 반영, 베이스라인 대비 향상을 검증.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1968" y="4453128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1976" y="33375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8B968A"/>
                </a:solidFill>
                <a:latin typeface="맑은 고딕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6024" y="2148840"/>
            <a:ext cx="2514600" cy="2743200"/>
          </a:xfrm>
          <a:prstGeom prst="roundRect">
            <a:avLst>
              <a:gd name="adj" fmla="val 5000"/>
            </a:avLst>
          </a:prstGeom>
          <a:solidFill>
            <a:srgbClr val="EAEEE3"/>
          </a:solidFill>
          <a:ln w="1587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0616" y="2295144"/>
            <a:ext cx="21854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968A"/>
                </a:solidFill>
                <a:latin typeface="Consolas"/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0616" y="2569464"/>
            <a:ext cx="21854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211B"/>
                </a:solidFill>
                <a:latin typeface="맑은 고딕"/>
              </a:rPr>
              <a:t>LLM 정책 브리핑·RAG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0616" y="3108960"/>
            <a:ext cx="218541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SHAP 기여 변수 + 생태 현황을 Claude에 전달해 브리핑 생성, ChromaDB 검색 기반 챗봇 응답.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0616" y="4453128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68A"/>
                </a:solidFill>
                <a:latin typeface="Consolas"/>
              </a:rPr>
              <a:t>병렬로 진행: Streamlit 대시보드는 데이터 파이프라인을 기다리지 않고 목업 데이터로 UI부터 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92240"/>
            <a:ext cx="3776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B968A"/>
                </a:solidFill>
                <a:latin typeface="Consolas"/>
              </a:rPr>
              <a:t>docs/DESIGN_DECISIONS.md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데이터 파이프라인 설계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5개 공공데이터 출처를 500m 구간에 공간 조인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구간(segment_id)이 예측 단위이자 GNN의 노드가 된다. 아직 원본 데이터는 수집 전이라 로더는 시그니처와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타입힌트만 있고 본문은 NotImplementedError 상태다.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03120"/>
          <a:ext cx="10908792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66160"/>
                <a:gridCol w="2103120"/>
                <a:gridCol w="2039112"/>
              </a:tblGrid>
              <a:tr h="4800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68A"/>
                          </a:solidFill>
                          <a:latin typeface="Consolas"/>
                        </a:rPr>
                        <a:t>데이터</a:t>
                      </a:r>
                    </a:p>
                  </a:txBody>
                  <a:tcPr marL="127000" marR="127000" marT="76200" marB="76200" anchor="ctr">
                    <a:solidFill>
                      <a:srgbClr val="EAEE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68A"/>
                          </a:solidFill>
                          <a:latin typeface="Consolas"/>
                        </a:rPr>
                        <a:t>출처</a:t>
                      </a:r>
                    </a:p>
                  </a:txBody>
                  <a:tcPr marL="127000" marR="127000" marT="76200" marB="76200" anchor="ctr">
                    <a:solidFill>
                      <a:srgbClr val="EAEE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68A"/>
                          </a:solidFill>
                          <a:latin typeface="Consolas"/>
                        </a:rPr>
                        <a:t>용도</a:t>
                      </a:r>
                    </a:p>
                  </a:txBody>
                  <a:tcPr marL="127000" marR="127000" marT="76200" marB="76200" anchor="ctr">
                    <a:solidFill>
                      <a:srgbClr val="EAEE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B968A"/>
                          </a:solidFill>
                          <a:latin typeface="Consolas"/>
                        </a:rPr>
                        <a:t>상태</a:t>
                      </a:r>
                    </a:p>
                  </a:txBody>
                  <a:tcPr marL="127000" marR="127000" marT="76200" marB="76200" anchor="ctr">
                    <a:solidFill>
                      <a:srgbClr val="EAEEE3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1B"/>
                          </a:solidFill>
                          <a:latin typeface="맑은 고딕"/>
                        </a:rPr>
                        <a:t>로드킬 발생 지점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TAAS · 국립생태원 에코뱅크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타깃 변수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수집 전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1B"/>
                          </a:solidFill>
                          <a:latin typeface="맑은 고딕"/>
                        </a:rPr>
                        <a:t>서식지 · 생태통로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국립생태원 에코뱅크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생태 피처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수집 전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1B"/>
                          </a:solidFill>
                          <a:latin typeface="맑은 고딕"/>
                        </a:rPr>
                        <a:t>도로망 (폭·곡률·AADT)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공공데이터포털 GIS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도로 피처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수집 전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1B"/>
                          </a:solidFill>
                          <a:latin typeface="맑은 고딕"/>
                        </a:rPr>
                        <a:t>기상 (강수·안개·기온)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기상청 날씨누리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시간 피처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수집 전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211B"/>
                          </a:solidFill>
                          <a:latin typeface="맑은 고딕"/>
                        </a:rPr>
                        <a:t>지형 (고도·경사)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국가공간정보포털 DEM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지형 피처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5625A"/>
                          </a:solidFill>
                          <a:latin typeface="맑은 고딕"/>
                        </a:rPr>
                        <a:t>수집 전</a:t>
                      </a:r>
                    </a:p>
                  </a:txBody>
                  <a:tcPr marL="127000" marR="12700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25A"/>
                </a:solidFill>
                <a:latin typeface="맑은 고딕"/>
              </a:rPr>
              <a:t>구간 길이  </a:t>
            </a:r>
            <a:r>
              <a:rPr sz="1050" b="1">
                <a:solidFill>
                  <a:srgbClr val="1A211B"/>
                </a:solidFill>
                <a:latin typeface="Consolas"/>
              </a:rPr>
              <a:t>500m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25A"/>
                </a:solidFill>
                <a:latin typeface="맑은 고딕"/>
              </a:rPr>
              <a:t>분석 좌표계  </a:t>
            </a:r>
            <a:r>
              <a:rPr sz="1050" b="1">
                <a:solidFill>
                  <a:srgbClr val="1A211B"/>
                </a:solidFill>
                <a:latin typeface="Consolas"/>
              </a:rPr>
              <a:t>EPSG:5179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25A"/>
                </a:solidFill>
                <a:latin typeface="맑은 고딕"/>
              </a:rPr>
              <a:t>표시 좌표계  </a:t>
            </a:r>
            <a:r>
              <a:rPr sz="1050" b="1">
                <a:solidFill>
                  <a:srgbClr val="1A211B"/>
                </a:solidFill>
                <a:latin typeface="Consolas"/>
              </a:rPr>
              <a:t>EPSG:4326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55625A"/>
                </a:solidFill>
                <a:latin typeface="맑은 고딕"/>
              </a:rPr>
              <a:t>구현 완료  </a:t>
            </a:r>
            <a:r>
              <a:rPr sz="1050" b="1">
                <a:solidFill>
                  <a:srgbClr val="1A211B"/>
                </a:solidFill>
                <a:latin typeface="Consolas"/>
              </a:rPr>
              <a:t>src/preprocessing/paths.py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베이스라인 모델 — 설계 결정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희소 이벤트를 어떻게 학습하고 평가할 것인가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로드킬은 전체 구간 대비 발생 비율이 낮은 희소 이벤트다. 세 가지 결정 기준으로 누수와 낙관 편향을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피했다. 합성 데이터로 전체 흐름(로딩→분할→전처리→학습→평가→SHAP)을 검증했다.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6B4E"/>
                </a:solidFill>
                <a:latin typeface="Consolas"/>
              </a:rPr>
              <a:t>불균형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77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211B"/>
                </a:solidFill>
                <a:latin typeface="맑은 고딕"/>
              </a:rPr>
              <a:t>클래스 가중치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44952"/>
            <a:ext cx="3154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136392"/>
            <a:ext cx="2935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11B"/>
                </a:solidFill>
                <a:latin typeface="Consolas"/>
              </a:rPr>
              <a:t>class_weight="balanced_subsample" /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11B"/>
                </a:solidFill>
                <a:latin typeface="Consolas"/>
              </a:rPr>
              <a:t>scale_pos_weight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오버샘플링(SMOTE)은 CV 폴드마다 학습 데이터로만 재계산해야 누수를 피할 수 있어 구현이 번거롭다. 가중치 방식은 누수 위험이 없고 단순하다.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313432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6B4E"/>
                </a:solidFill>
                <a:latin typeface="Consolas"/>
              </a:rPr>
              <a:t>평가 지표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877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211B"/>
                </a:solidFill>
                <a:latin typeface="맑은 고딕"/>
              </a:rPr>
              <a:t>PR-AUC 중심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044952"/>
            <a:ext cx="3154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3136392"/>
            <a:ext cx="2935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11B"/>
                </a:solidFill>
                <a:latin typeface="Consolas"/>
              </a:rPr>
              <a:t>average_precision +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11B"/>
                </a:solidFill>
                <a:latin typeface="Consolas"/>
              </a:rPr>
              <a:t>F1-최적 임계값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음성이 압도적으로 많으면 ROC-AUC가 낙관적으로 나온다. 분류 임계값도 고정 0.5 대신 F1을 최대화하는 지점을 탐색한다.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48840"/>
            <a:ext cx="3520440" cy="3291840"/>
          </a:xfrm>
          <a:prstGeom prst="roundRect">
            <a:avLst>
              <a:gd name="adj" fmla="val 5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313432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E6B4E"/>
                </a:solidFill>
                <a:latin typeface="Consolas"/>
              </a:rPr>
              <a:t>분할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8775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A211B"/>
                </a:solidFill>
                <a:latin typeface="맑은 고딕"/>
              </a:rPr>
              <a:t>Spatial split 기본값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044952"/>
            <a:ext cx="3154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136392"/>
            <a:ext cx="293522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11B"/>
                </a:solidFill>
                <a:latin typeface="Consolas"/>
              </a:rPr>
              <a:t>StratifiedGroupKFold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211B"/>
                </a:solidFill>
                <a:latin typeface="Consolas"/>
              </a:rPr>
              <a:t>(segment_id)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154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같은 구간의 다른 날짜가 학습·평가에 동시에 들어가면 공간 정보가 누수된다. 미래 예측력 검증 시에는 --split temporal 옵션 사용.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68A"/>
                </a:solidFill>
                <a:latin typeface="Consolas"/>
              </a:rPr>
              <a:t>SHAP(interpret.py) 변수 기여도는 4단계 정책 브리핑의 근거 자료로 그대로 재사용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92240"/>
            <a:ext cx="3776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B968A"/>
                </a:solidFill>
                <a:latin typeface="Consolas"/>
              </a:rPr>
              <a:t>tests/test_baseline_pipeline.py — 전체 흐름 통과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STREAMLIT 대시보드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목업 데이터로 UI 뼈대부터 먼저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전처리·베이스라인 실데이터 학습을 기다리지 않고, 합성 구간 데이터로 지도·필터·KPI·구간 상세·챗봇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UI를 먼저 만들어 AppTest로 헤드리스 검증까지 마쳤다.</a:t>
            </a:r>
          </a:p>
        </p:txBody>
      </p:sp>
      <p:pic>
        <p:nvPicPr>
          <p:cNvPr id="8" name="Picture 7" descr="dashboard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6949440" cy="4343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40080" y="2103120"/>
            <a:ext cx="6949440" cy="4343400"/>
          </a:xfrm>
          <a:prstGeom prst="rect">
            <a:avLst/>
          </a:prstGeom>
          <a:noFill/>
          <a:ln w="12700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2103120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E6B4E"/>
                </a:solidFill>
                <a:latin typeface="Consolas"/>
              </a:rPr>
              <a:t>01  </a:t>
            </a:r>
            <a:r>
              <a:rPr sz="1250" b="1">
                <a:solidFill>
                  <a:srgbClr val="1A211B"/>
                </a:solidFill>
                <a:latin typeface="맑은 고딕"/>
              </a:rPr>
              <a:t>필터 ·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35915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A"/>
                </a:solidFill>
                <a:latin typeface="맑은 고딕"/>
              </a:rPr>
              <a:t>도로 등급 / 최소 위험도 슬라이더, 전체·표시 구간 수, 고위험 구간 수, 평균 위험도.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816352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E6B4E"/>
                </a:solidFill>
                <a:latin typeface="Consolas"/>
              </a:rPr>
              <a:t>02  </a:t>
            </a:r>
            <a:r>
              <a:rPr sz="1250" b="1">
                <a:solidFill>
                  <a:srgbClr val="1A211B"/>
                </a:solidFill>
                <a:latin typeface="맑은 고딕"/>
              </a:rPr>
              <a:t>위험구간 지도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072384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A"/>
                </a:solidFill>
                <a:latin typeface="맑은 고딕"/>
              </a:rPr>
              <a:t>pydeck 기반, 위험도 4단계 색상 구분, 클릭 선택 지원.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529584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E6B4E"/>
                </a:solidFill>
                <a:latin typeface="Consolas"/>
              </a:rPr>
              <a:t>03  </a:t>
            </a:r>
            <a:r>
              <a:rPr sz="1250" b="1">
                <a:solidFill>
                  <a:srgbClr val="1A211B"/>
                </a:solidFill>
                <a:latin typeface="맑은 고딕"/>
              </a:rPr>
              <a:t>구간 상세 패널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78561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A"/>
                </a:solidFill>
                <a:latin typeface="맑은 고딕"/>
              </a:rPr>
              <a:t>선택 구간의 위험도 근거와 정책 브리핑 표시 (LLM 연동 전).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242816"/>
            <a:ext cx="37490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2E6B4E"/>
                </a:solidFill>
                <a:latin typeface="Consolas"/>
              </a:rPr>
              <a:t>04  </a:t>
            </a:r>
            <a:r>
              <a:rPr sz="1250" b="1">
                <a:solidFill>
                  <a:srgbClr val="1A211B"/>
                </a:solidFill>
                <a:latin typeface="맑은 고딕"/>
              </a:rPr>
              <a:t>위험구간 챗봇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49884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5625A"/>
                </a:solidFill>
                <a:latin typeface="맑은 고딕"/>
              </a:rPr>
              <a:t>현재는 키워드 매칭 기반 목업 응답. RAG·Claude API 연동 예정.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5074920"/>
            <a:ext cx="3749039" cy="914400"/>
          </a:xfrm>
          <a:prstGeom prst="roundRect">
            <a:avLst>
              <a:gd name="adj" fmla="val 1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5166360"/>
            <a:ext cx="3474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B4711F"/>
                </a:solidFill>
                <a:latin typeface="맑은 고딕"/>
              </a:rPr>
              <a:t>⚠ 화면의 도로·좌표·위험도·브리핑·챗봇 응답은 전부 합성 데이터입니다. 실제 브라우저에서의 지도 클릭 인터랙션은 아직 직접 확인 전입니다.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19088"/>
            <a:ext cx="10908792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8B968A"/>
                </a:solidFill>
                <a:latin typeface="Consolas"/>
              </a:rPr>
              <a:t>data_provider.py — load_segments() 하나만 교체하면 실제 데이터로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92240"/>
            <a:ext cx="3776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8B968A"/>
                </a:solidFill>
                <a:latin typeface="Consolas"/>
              </a:rPr>
              <a:t>streamlit run src/dashboard/app.py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진행 상황 한눈에 보기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전체 9개 모듈 중 3개 완료 · 2개 부분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공공데이터 수집이 전처리·EDA·베이스라인 실학습·GNN 착수로 이어지는 선행 블로커다.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968A"/>
                </a:solidFill>
                <a:latin typeface="Consolas"/>
              </a:rPr>
              <a:t>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574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968A"/>
                </a:solidFill>
                <a:latin typeface="Consolas"/>
              </a:rPr>
              <a:t>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57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B968A"/>
                </a:solidFill>
                <a:latin typeface="Consolas"/>
              </a:rPr>
              <a:t>비고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331720"/>
            <a:ext cx="10908792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4688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프로젝트 스캐폴딩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423160"/>
            <a:ext cx="667512" cy="292608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2E6B4E"/>
                </a:solidFill>
                <a:latin typeface="맑은 고딕"/>
              </a:rPr>
              <a:t>●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폴더 구조, requirements.txt, .gitignore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2807208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285292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환경 재현성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807208"/>
            <a:ext cx="667512" cy="292608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2E6B4E"/>
                </a:solidFill>
                <a:latin typeface="맑은 고딕"/>
              </a:rPr>
              <a:t>●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85292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setup.sh / setup.ps1, .python-version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191256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23697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공공데이터 수집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191256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23697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현재 블로커 — data/raw 비어 있음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3575304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362102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전처리 구현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6240" y="3575304"/>
            <a:ext cx="996696" cy="292608"/>
          </a:xfrm>
          <a:prstGeom prst="roundRect">
            <a:avLst>
              <a:gd name="adj" fmla="val 5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B4711F"/>
                </a:solidFill>
                <a:latin typeface="맑은 고딕"/>
              </a:rPr>
              <a:t>● 설계만 완료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62102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로더 5개 스켈레톤, 21개 함수 NotImplementedError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3959352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40050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EDA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3959352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05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데이터 수집 후 진행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4343400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43891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베이스라인 모델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34340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B4711F"/>
                </a:solidFill>
                <a:latin typeface="맑은 고딕"/>
              </a:rPr>
              <a:t>● 코드 완료/실학습 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389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합성 데이터로 구조 검증 완료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4727448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477316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GNN (GCN·GraphSAGE)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4727448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77316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베이스라인 실학습 이후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0080" y="5111496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40080" y="515721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RAG 파이프라인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0" y="5111496"/>
            <a:ext cx="832104" cy="292608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157216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/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0080" y="5495544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5541264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211B"/>
                </a:solidFill>
                <a:latin typeface="맑은 고딕"/>
              </a:rPr>
              <a:t>Streamlit 대시보드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06240" y="5495544"/>
            <a:ext cx="1161288" cy="292608"/>
          </a:xfrm>
          <a:prstGeom prst="roundRect">
            <a:avLst>
              <a:gd name="adj" fmla="val 5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950" b="1">
                <a:solidFill>
                  <a:srgbClr val="B4711F"/>
                </a:solidFill>
                <a:latin typeface="맑은 고딕"/>
              </a:rPr>
              <a:t>● 목업 뼈대 완료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54126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25A"/>
                </a:solidFill>
                <a:latin typeface="맑은 고딕"/>
              </a:rPr>
              <a:t>AppTest 헤드리스 검증 완료, 데이터는 합성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" y="5879592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40080" y="6016752"/>
            <a:ext cx="667512" cy="274320"/>
          </a:xfrm>
          <a:prstGeom prst="roundRect">
            <a:avLst>
              <a:gd name="adj" fmla="val 50000"/>
            </a:avLst>
          </a:prstGeom>
          <a:solidFill>
            <a:srgbClr val="DC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2E6B4E"/>
                </a:solidFill>
                <a:latin typeface="맑은 고딕"/>
              </a:rPr>
              <a:t>● 완료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72768" y="601675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3E1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B4711F"/>
                </a:solidFill>
                <a:latin typeface="맑은 고딕"/>
              </a:rPr>
              <a:t>● 부분 완료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07208" y="6016752"/>
            <a:ext cx="832104" cy="274320"/>
          </a:xfrm>
          <a:prstGeom prst="roundRect">
            <a:avLst>
              <a:gd name="adj" fmla="val 50000"/>
            </a:avLst>
          </a:prstGeom>
          <a:solidFill>
            <a:srgbClr val="E7E9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55625A"/>
                </a:solidFill>
                <a:latin typeface="맑은 고딕"/>
              </a:rPr>
              <a:t>● 시작 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기술 스택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영역별 사용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>지형·공간 처리부터 GNN, LLM/RAG, 대시보드까지 전 영역이 requirements.txt에 버전 고정되어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95144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6B4E"/>
                </a:solidFill>
                <a:latin typeface="Consolas"/>
              </a:rPr>
              <a:t>데이터 처리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97480"/>
            <a:ext cx="86868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4792" y="2697480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geopandas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944" y="2697480"/>
            <a:ext cx="96012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shapely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118104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rasterio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1488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295144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6B4E"/>
                </a:solidFill>
                <a:latin typeface="Consolas"/>
              </a:rPr>
              <a:t>베이스라인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697480"/>
            <a:ext cx="141732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scikit-learn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697480"/>
            <a:ext cx="96012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xgboost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118104"/>
            <a:ext cx="178308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imbalanced-learn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82512" y="3118104"/>
            <a:ext cx="68580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shap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4884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295144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6B4E"/>
                </a:solidFill>
                <a:latin typeface="Consolas"/>
              </a:rPr>
              <a:t>GNN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697480"/>
            <a:ext cx="96012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PyTorch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62872" y="2697480"/>
            <a:ext cx="187452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PyTorch Geometric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118104"/>
            <a:ext cx="59436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GCN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7112" y="3118104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GraphSAGE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319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078224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6B4E"/>
                </a:solidFill>
                <a:latin typeface="Consolas"/>
              </a:rPr>
              <a:t>LLM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4480560"/>
            <a:ext cx="214884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Anthropic Claude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901184"/>
            <a:ext cx="178308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claude-haiku-4-5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9319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078224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6B4E"/>
                </a:solidFill>
                <a:latin typeface="Consolas"/>
              </a:rPr>
              <a:t>RAG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80" y="4480560"/>
            <a:ext cx="224028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sentence-transformers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4901184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ChromaDB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39319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EA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078224"/>
            <a:ext cx="3154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6B4E"/>
                </a:solidFill>
                <a:latin typeface="Consolas"/>
              </a:rPr>
              <a:t>대시보드·보조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480560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Streamlit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45752" y="4480560"/>
            <a:ext cx="86868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pydeck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87584" y="4480560"/>
            <a:ext cx="86868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folium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901184"/>
            <a:ext cx="1051560" cy="32918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8DE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950">
                <a:solidFill>
                  <a:srgbClr val="1A211B"/>
                </a:solidFill>
                <a:latin typeface="Consolas"/>
              </a:rPr>
              <a:t>QGIS(로컬)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74320"/>
            <a:ext cx="11640312" cy="6309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B968A"/>
                </a:solidFill>
                <a:latin typeface="Consolas"/>
              </a:rPr>
              <a:t>다음 액션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91840" y="530352"/>
            <a:ext cx="8229600" cy="0"/>
          </a:xfrm>
          <a:prstGeom prst="line">
            <a:avLst/>
          </a:prstGeom>
          <a:ln w="9525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7132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A211B"/>
                </a:solidFill>
                <a:latin typeface="맑은 고딕"/>
              </a:rPr>
              <a:t>우선순위 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43584"/>
            <a:ext cx="9875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A"/>
                </a:solidFill>
                <a:latin typeface="맑은 고딕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E6B4E"/>
                </a:solidFill>
                <a:latin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842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A211B"/>
                </a:solidFill>
                <a:latin typeface="맑은 고딕"/>
              </a:rPr>
              <a:t>공공데이터 5종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9514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API 키 발급, 원본 파일을 data/raw/ 에 배치.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2039112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F4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0" bIns="0"/>
          <a:lstStyle/>
          <a:p>
            <a:pPr algn="ctr"/>
            <a:r>
              <a:rPr sz="1000" b="1">
                <a:solidFill>
                  <a:srgbClr val="B23B33"/>
                </a:solidFill>
                <a:latin typeface="맑은 고딕"/>
              </a:rPr>
              <a:t>● 블로커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606040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267919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B968A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A211B"/>
                </a:solidFill>
                <a:latin typeface="맑은 고딕"/>
              </a:rPr>
              <a:t>전처리 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0837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실제 데이터 스키마를 보고 로더 5개 채우기, schema.py 컬럼명 재검토.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319272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B968A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1071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A211B"/>
                </a:solidFill>
                <a:latin typeface="맑은 고딕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21608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위험도 분포·결측치·클래스 불균형 정도 확인, 구간-일자 vs 카운트 회귀 결정.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4032504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410565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B968A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239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A211B"/>
                </a:solidFill>
                <a:latin typeface="맑은 고딕"/>
              </a:rPr>
              <a:t>베이스라인 실학습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434840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python -m src.models.baseline.train 실행, 실제 PR-AUC 확인.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4745736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481888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B968A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371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A211B"/>
                </a:solidFill>
                <a:latin typeface="맑은 고딕"/>
              </a:rPr>
              <a:t>GNN 착수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14807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구간 인접 그래프 구성 후 GCN·GraphSAGE 학습.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5458968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5321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8B968A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5504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A211B"/>
                </a:solidFill>
                <a:latin typeface="맑은 고딕"/>
              </a:rPr>
              <a:t>대시보드 브라우저 검증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8613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5625A"/>
                </a:solidFill>
                <a:latin typeface="맑은 고딕"/>
              </a:rPr>
              <a:t>지도 클릭 인터랙션을 실제 브라우저에서 육안 확인.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6350">
            <a:solidFill>
              <a:srgbClr val="D8DE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6B4E"/>
                </a:solidFill>
                <a:latin typeface="Consolas"/>
              </a:rPr>
              <a:t>09  참고 문서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211B"/>
                </a:solidFill>
                <a:latin typeface="맑은 고딕"/>
              </a:rPr>
              <a:t>설계 근거와 진행 상황은</a:t>
            </a:r>
          </a:p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A211B"/>
                </a:solidFill>
                <a:latin typeface="맑은 고딕"/>
              </a:rPr>
              <a:t>저장소 문서에 계속 누적됩니다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25A"/>
                </a:solidFill>
                <a:latin typeface="맑은 고딕"/>
              </a:rPr>
              <a:t>새로운 결정을 내리거나 기존 결정을 재검토할 때마다 아래 문서를 갱신합니다.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E6B4E"/>
                </a:solidFill>
                <a:latin typeface="Consolas"/>
              </a:rPr>
              <a:t>README.md — 목표 · 접근 방법 · 설치 및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502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E6B4E"/>
                </a:solidFill>
                <a:latin typeface="Consolas"/>
              </a:rPr>
              <a:t>docs/PROGRESS.md — 모듈별 상세 현황 · 다음 액션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34256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E6B4E"/>
                </a:solidFill>
                <a:latin typeface="Consolas"/>
              </a:rPr>
              <a:t>docs/DESIGN_DECISIONS.md — 설계 결정의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B968A"/>
                </a:solidFill>
                <a:latin typeface="맑은 고딕"/>
              </a:rPr>
              <a:t>roadkill-risk-prediction ·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